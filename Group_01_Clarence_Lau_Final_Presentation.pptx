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aleway" panose="020F0502020204030204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CBF5C9-B210-4105-AF35-5A682F30EECA}">
  <a:tblStyle styleId="{3ECBF5C9-B210-4105-AF35-5A682F30E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86" d="100"/>
          <a:sy n="86" d="100"/>
        </p:scale>
        <p:origin x="10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559a64df0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559a64df0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5bb10629d_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5bb10629d_3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59d5492ad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59d5492ad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559a64df0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559a64df0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5bb10629d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05bb10629d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5bb10629d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5bb10629d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61d3283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61d3283b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559a64df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559a64df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38e791c84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38e791c84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38e791c84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38e791c84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061d3283b1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061d3283b1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38e68eb08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38e68eb08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59d5492a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059d5492ad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05bb10629d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05bb10629d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5bb10629d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05bb10629d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38e68eb08a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38e68eb08a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59d5492a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059d5492a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061d3283b1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061d3283b1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61d3283b1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061d3283b1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Course system: student and  teacher’s schedule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Report System: report rating comment.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highlight>
                  <a:srgbClr val="FFFFFF"/>
                </a:highlight>
              </a:rPr>
              <a:t>Administration system: refund request and managing user account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  <a:highlight>
                  <a:srgbClr val="FFFFFF"/>
                </a:highlight>
              </a:rPr>
              <a:t>Document verification system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311700" y="-548900"/>
            <a:ext cx="8520600" cy="3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39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39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39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2200" b="1"/>
              <a:t>Final Year Project (ITE4116M) </a:t>
            </a:r>
            <a:endParaRPr sz="2200" b="1"/>
          </a:p>
          <a:p>
            <a:pPr marL="0" marR="139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2200" b="1">
                <a:latin typeface="Times New Roman"/>
                <a:ea typeface="Times New Roman"/>
                <a:cs typeface="Times New Roman"/>
                <a:sym typeface="Times New Roman"/>
              </a:rPr>
              <a:t>Oral Presentation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200" b="1">
                <a:latin typeface="Times New Roman"/>
                <a:ea typeface="Times New Roman"/>
                <a:cs typeface="Times New Roman"/>
                <a:sym typeface="Times New Roman"/>
              </a:rPr>
              <a:t>Project Title: Online Learning and Tutoring Platform (Tutor Cat)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Clarence Lau  Group 1</a:t>
            </a: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397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5388875" y="2451300"/>
            <a:ext cx="4603500" cy="26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779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</a:t>
            </a:r>
            <a:endParaRPr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79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 Chi Wang</a:t>
            </a:r>
            <a:endParaRPr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668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271400" y="1308575"/>
            <a:ext cx="7688700" cy="3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369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Online Learning and Tutoring Platforms </a:t>
            </a:r>
            <a:endParaRPr sz="2300">
              <a:solidFill>
                <a:schemeClr val="dk2"/>
              </a:solidFill>
            </a:endParaRPr>
          </a:p>
          <a:p>
            <a:pPr marL="457200" lvl="0" indent="-36369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Name: Tutor Cat</a:t>
            </a:r>
            <a:endParaRPr sz="2300">
              <a:solidFill>
                <a:schemeClr val="dk2"/>
              </a:solidFill>
            </a:endParaRPr>
          </a:p>
          <a:p>
            <a:pPr marL="457200" lvl="0" indent="-36369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Target: Tutor and student</a:t>
            </a:r>
            <a:endParaRPr sz="2300">
              <a:solidFill>
                <a:schemeClr val="dk2"/>
              </a:solidFill>
            </a:endParaRPr>
          </a:p>
          <a:p>
            <a:pPr marL="457200" lvl="0" indent="-36369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Programming language: PHP , HTML5</a:t>
            </a:r>
            <a:endParaRPr sz="2300">
              <a:solidFill>
                <a:schemeClr val="dk2"/>
              </a:solidFill>
            </a:endParaRPr>
          </a:p>
          <a:p>
            <a:pPr marL="457200" lvl="0" indent="-363696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Database : MySQL Database</a:t>
            </a:r>
            <a:endParaRPr sz="2300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>
              <a:solidFill>
                <a:schemeClr val="dk2"/>
              </a:solidFill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025" y="759975"/>
            <a:ext cx="2370850" cy="237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400" y="3809772"/>
            <a:ext cx="1651300" cy="8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4725" y="3670038"/>
            <a:ext cx="1095375" cy="11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29450" y="668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Function List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271400" y="1308575"/>
            <a:ext cx="7688700" cy="3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Sign up &amp; Login (Student / Tutor)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Chat Room (All users)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Payment and Point System (PayPal, Credit Card, Alipay, etc… and point payment. Buy course or note to get points)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Course System (Student: Search Tutor, Buy Course and View course record) (Tutor: Create Course ) 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Calendar System(Student and  tutot view course date and detail)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Analyze System(Tutor view analyze report such as no of course and profit)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Notes System (Student: Buy Notes) (Tutor: Create Notes) 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Rating System (Student: Rate Tutor)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UserSetting System (All users: Profile  System)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Report System (All users: Report Student / Tutor)</a:t>
            </a:r>
            <a:endParaRPr sz="2300">
              <a:solidFill>
                <a:schemeClr val="dk2"/>
              </a:solidFill>
            </a:endParaRPr>
          </a:p>
          <a:p>
            <a:pPr marL="457200" lvl="0" indent="-29797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zh-TW" sz="2300">
                <a:solidFill>
                  <a:schemeClr val="dk2"/>
                </a:solidFill>
              </a:rPr>
              <a:t>Adminstration (Admin)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29450" y="668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Entity Relationship Diagram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50" y="1130450"/>
            <a:ext cx="4751926" cy="38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7650" y="632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Sign up &amp; Login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75" y="1326800"/>
            <a:ext cx="3729219" cy="36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27650" y="632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Chat Room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25" y="1687500"/>
            <a:ext cx="3671901" cy="2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6007500" y="900850"/>
            <a:ext cx="32199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latin typeface="Lato"/>
                <a:ea typeface="Lato"/>
                <a:cs typeface="Lato"/>
                <a:sym typeface="Lato"/>
              </a:rPr>
              <a:t>Use Ajax for real-time chat room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Good for older or less capable web server or hosting environment that does not support WebSockets. (like older versions of Internet Explorer)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007500" y="2624650"/>
            <a:ext cx="3136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latin typeface="Lato"/>
                <a:ea typeface="Lato"/>
                <a:cs typeface="Lato"/>
                <a:sym typeface="Lato"/>
              </a:rPr>
              <a:t>Use WebSockets for real-time chat room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Better fit for handle multiple bidirectional messages between the browser and the server with superior performance and capabilities.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474" y="3022900"/>
            <a:ext cx="2546669" cy="20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727650" y="632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Payment and Point System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0150"/>
            <a:ext cx="4018101" cy="281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975" y="1320150"/>
            <a:ext cx="2229300" cy="30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6041250" y="1255500"/>
            <a:ext cx="3165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latin typeface="Lato"/>
                <a:ea typeface="Lato"/>
                <a:cs typeface="Lato"/>
                <a:sym typeface="Lato"/>
              </a:rPr>
              <a:t>PayPal sandbox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It is a testing environment provided by PayPal for simulated payment.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6072150" y="2730900"/>
            <a:ext cx="3165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latin typeface="Lato"/>
                <a:ea typeface="Lato"/>
                <a:cs typeface="Lato"/>
                <a:sym typeface="Lato"/>
              </a:rPr>
              <a:t>Stripe Payment Test Mode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Including credit card payment, Alipay, and WeChat Pay.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727650" y="592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Profile System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850" y="1224625"/>
            <a:ext cx="6989450" cy="32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29450" y="6076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Course System</a:t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875" y="1295200"/>
            <a:ext cx="6526302" cy="38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607250" y="529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Calendar System</a:t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825" y="1145825"/>
            <a:ext cx="4976875" cy="39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729450" y="6187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Analyze System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425" y="1310850"/>
            <a:ext cx="5117600" cy="35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683825" y="2628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Report System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25" y="3164100"/>
            <a:ext cx="2830675" cy="17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25" y="1348550"/>
            <a:ext cx="1262350" cy="12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770025" y="504125"/>
            <a:ext cx="438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Technology used on Report system(Provide video evidence)</a:t>
            </a:r>
            <a:endParaRPr sz="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2950" y="1348550"/>
            <a:ext cx="6272401" cy="8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2951" y="2278363"/>
            <a:ext cx="6494601" cy="2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1019325" y="2900700"/>
            <a:ext cx="350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795300" y="2733000"/>
            <a:ext cx="3977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>
                <a:latin typeface="Lato"/>
                <a:ea typeface="Lato"/>
                <a:cs typeface="Lato"/>
                <a:sym typeface="Lato"/>
              </a:rPr>
              <a:t>Reasons for using this technology</a:t>
            </a:r>
            <a:endParaRPr sz="1600"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679975" y="3198275"/>
            <a:ext cx="434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Safety 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reliability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727650" y="592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Report System- Suspended User function</a:t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814875" y="1274150"/>
            <a:ext cx="43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Technology used</a:t>
            </a:r>
            <a:endParaRPr sz="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975" y="1735850"/>
            <a:ext cx="1327850" cy="132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9901" y="1443605"/>
            <a:ext cx="4650076" cy="330994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373800" y="3341775"/>
            <a:ext cx="335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 sz="1200" b="1"/>
              <a:t>Let users know that their account or IP address has been </a:t>
            </a:r>
            <a:r>
              <a:rPr lang="zh-TW" sz="1200" b="1">
                <a:solidFill>
                  <a:schemeClr val="dk2"/>
                </a:solidFill>
              </a:rPr>
              <a:t>Suspended</a:t>
            </a:r>
            <a:endParaRPr sz="1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727650" y="632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Notes System</a:t>
            </a:r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811525" y="1508775"/>
            <a:ext cx="768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650775" y="3550100"/>
            <a:ext cx="2265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*Delete Notes is not delete record just set Notes to private 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875" y="966425"/>
            <a:ext cx="4775124" cy="40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650775" y="1383800"/>
            <a:ext cx="3235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Tutor : Create, Edit ,Delete the notes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Student: Buy Notes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Common: View Notes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727650" y="632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 - Rating System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525" y="1167750"/>
            <a:ext cx="4901962" cy="3670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077550" y="1801750"/>
            <a:ext cx="2601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Student: give rating and comment to notes and tutor 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Lato"/>
                <a:ea typeface="Lato"/>
                <a:cs typeface="Lato"/>
                <a:sym typeface="Lato"/>
              </a:rPr>
              <a:t>Common : view  tutor and notes rating.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xfrm>
            <a:off x="681050" y="6558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Recommender System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811525" y="1508775"/>
            <a:ext cx="7688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We are builded a Recommender System for the Notes System to predict which notes the student would like to see.we use item-base similarity to make prediction.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I will explain more in demo.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128" y="3410100"/>
            <a:ext cx="2934149" cy="165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525" y="3171075"/>
            <a:ext cx="4318650" cy="18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681050" y="6558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Recommender System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811525" y="1191050"/>
            <a:ext cx="76887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Why I use item base collaborative filtering. 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Item-based collaborative filtering can often recommend items that users may not have discovered otherwise, leading to increased engagement and customer satisfaction.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So, In terms of business,We can sell more products(notes) to students.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Lato"/>
                <a:ea typeface="Lato"/>
                <a:cs typeface="Lato"/>
                <a:sym typeface="Lato"/>
              </a:rPr>
              <a:t> 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>
            <a:off x="644975" y="3913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Project schedule</a:t>
            </a:r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42" y="854875"/>
            <a:ext cx="7252133" cy="42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616925" y="6615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Project schedule</a:t>
            </a:r>
            <a:endParaRPr/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25" y="1509050"/>
            <a:ext cx="2707225" cy="21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5700" y="1457900"/>
            <a:ext cx="2414850" cy="24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>
            <a:spLocks noGrp="1"/>
          </p:cNvSpPr>
          <p:nvPr>
            <p:ph type="title"/>
          </p:nvPr>
        </p:nvSpPr>
        <p:spPr>
          <a:xfrm>
            <a:off x="727650" y="5106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 of project Function</a:t>
            </a:r>
            <a:endParaRPr/>
          </a:p>
        </p:txBody>
      </p:sp>
      <p:graphicFrame>
        <p:nvGraphicFramePr>
          <p:cNvPr id="230" name="Google Shape;230;p32"/>
          <p:cNvGraphicFramePr/>
          <p:nvPr>
            <p:extLst>
              <p:ext uri="{D42A27DB-BD31-4B8C-83A1-F6EECF244321}">
                <p14:modId xmlns:p14="http://schemas.microsoft.com/office/powerpoint/2010/main" val="3991184680"/>
              </p:ext>
            </p:extLst>
          </p:nvPr>
        </p:nvGraphicFramePr>
        <p:xfrm>
          <a:off x="2924275" y="964255"/>
          <a:ext cx="3100700" cy="4041570"/>
        </p:xfrm>
        <a:graphic>
          <a:graphicData uri="http://schemas.openxmlformats.org/drawingml/2006/table">
            <a:tbl>
              <a:tblPr>
                <a:noFill/>
                <a:tableStyleId>{3ECBF5C9-B210-4105-AF35-5A682F30EECA}</a:tableStyleId>
              </a:tblPr>
              <a:tblGrid>
                <a:gridCol w="31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/>
                        <a:t>Recommendation System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highlight>
                            <a:schemeClr val="lt1"/>
                          </a:highlight>
                        </a:rPr>
                        <a:t>In-house System(login system)</a:t>
                      </a:r>
                      <a:endParaRPr sz="160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highlight>
                            <a:schemeClr val="lt1"/>
                          </a:highlight>
                        </a:rPr>
                        <a:t>Notes System 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highlight>
                            <a:schemeClr val="lt1"/>
                          </a:highlight>
                        </a:rPr>
                        <a:t>Chatroom System</a:t>
                      </a:r>
                      <a:endParaRPr sz="1600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highlight>
                            <a:schemeClr val="lt1"/>
                          </a:highlight>
                        </a:rPr>
                        <a:t>UserSetting System(Profile  System)</a:t>
                      </a:r>
                      <a:endParaRPr sz="160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highlight>
                            <a:schemeClr val="lt1"/>
                          </a:highlight>
                        </a:rPr>
                        <a:t>Rating System</a:t>
                      </a:r>
                      <a:endParaRPr sz="160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highlight>
                            <a:schemeClr val="lt1"/>
                          </a:highlight>
                        </a:rPr>
                        <a:t>Report System</a:t>
                      </a:r>
                      <a:endParaRPr sz="1600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highlight>
                            <a:schemeClr val="lt1"/>
                          </a:highlight>
                        </a:rPr>
                        <a:t>Course System</a:t>
                      </a:r>
                      <a:r>
                        <a:rPr lang="zh-TW" altLang="en-US" sz="1200" dirty="0">
                          <a:highlight>
                            <a:schemeClr val="lt1"/>
                          </a:highlight>
                        </a:rPr>
                        <a:t> </a:t>
                      </a:r>
                      <a:r>
                        <a:rPr lang="en-US" altLang="zh-TW" sz="1200" dirty="0">
                          <a:highlight>
                            <a:schemeClr val="lt1"/>
                          </a:highlight>
                        </a:rPr>
                        <a:t>and Calendar System</a:t>
                      </a:r>
                      <a:endParaRPr sz="1600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highlight>
                            <a:schemeClr val="lt1"/>
                          </a:highlight>
                        </a:rPr>
                        <a:t>Analyze System</a:t>
                      </a:r>
                      <a:endParaRPr sz="1200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908580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highlight>
                            <a:schemeClr val="lt1"/>
                          </a:highlight>
                        </a:rPr>
                        <a:t>Payment and Point System</a:t>
                      </a:r>
                      <a:endParaRPr sz="160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highlight>
                            <a:schemeClr val="lt1"/>
                          </a:highlight>
                        </a:rPr>
                        <a:t>Administration system</a:t>
                      </a:r>
                      <a:endParaRPr sz="1200" dirty="0"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2692</Words>
  <Application>Microsoft Office PowerPoint</Application>
  <PresentationFormat>On-screen Show (16:9)</PresentationFormat>
  <Paragraphs>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Times New Roman</vt:lpstr>
      <vt:lpstr>Raleway</vt:lpstr>
      <vt:lpstr>Lato</vt:lpstr>
      <vt:lpstr>Arial</vt:lpstr>
      <vt:lpstr>Streamline</vt:lpstr>
      <vt:lpstr>  Final Year Project (ITE4116M)  Oral Presentation Project Title: Online Learning and Tutoring Platform (Tutor Cat) Supervisor: Clarence Lau  Group 1  </vt:lpstr>
      <vt:lpstr>Background</vt:lpstr>
      <vt:lpstr>Function List</vt:lpstr>
      <vt:lpstr>Entity Relationship Diagram </vt:lpstr>
      <vt:lpstr>Use Case - Sign up &amp; Login</vt:lpstr>
      <vt:lpstr>Use Case - Chat Room</vt:lpstr>
      <vt:lpstr>Use Case - Payment and Point System</vt:lpstr>
      <vt:lpstr>Use Case - Profile System </vt:lpstr>
      <vt:lpstr>Use Case - Course System</vt:lpstr>
      <vt:lpstr>Use Case - Calendar System</vt:lpstr>
      <vt:lpstr>Use Case - Analyze System</vt:lpstr>
      <vt:lpstr>Use Case - Report System </vt:lpstr>
      <vt:lpstr>Report System- Suspended User function</vt:lpstr>
      <vt:lpstr>Use Case - Notes System</vt:lpstr>
      <vt:lpstr>Use Case - Rating System</vt:lpstr>
      <vt:lpstr>Recommender System</vt:lpstr>
      <vt:lpstr>Recommender System</vt:lpstr>
      <vt:lpstr> Project schedule</vt:lpstr>
      <vt:lpstr> Project schedule</vt:lpstr>
      <vt:lpstr>Summary of project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Final Year Project (ITE4116M)  Oral Presentation Project Title: Online Learning and Tutoring Platform (Tutor Cat) Supervisor: Clarence Lau  Group 1  </dc:title>
  <cp:lastModifiedBy>MAK Chi Wang</cp:lastModifiedBy>
  <cp:revision>2</cp:revision>
  <dcterms:modified xsi:type="dcterms:W3CDTF">2025-05-03T13:45:29Z</dcterms:modified>
</cp:coreProperties>
</file>